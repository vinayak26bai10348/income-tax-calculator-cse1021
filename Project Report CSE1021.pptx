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presentation explains a beginner Python income tax calculator.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is limited to an educational estimate for the stated tax year. Tax rules used for this FY 2025-26 (AY 2026-27) educational example: https://incometaxindia.gov.in/Documents/Budget/budget-2025/faqs-budget-2025.pdf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Tax rules used for this FY 2025-26 (AY 2026-27) educational example: https://incometaxindia.gov.in/Documents/Budget/budget-2025/faqs-budget-2025.pdf The Department's Budget FAQ also explains marginal relief just above ₹12 lakh.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403FD-4B3C-9DC5-E85F-40FB94B9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7A151-261C-7E64-80D9-0714D7989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0A7AD-C65C-9815-20BE-3101DF5D7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4A592-DCDC-652F-1DE5-65779F5D8A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157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Tax rules used for this FY 2025-26 (AY 2026-27) educational example: https://incometaxindia.gov.in/Documents/Budget/budget-2025/faqs-budget-2025.pdf The figures are an example based on the slab rates, marginal relief, and 4% 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https://incometaxindia.gov.in/Documents/Budget/budget-2025/faqs-budget-2025.pdf</a:t>
            </a:r>
          </a:p>
          <a:p>
            <a:r>
              <a:t>https://www.incometax.gov.in/iec/foportal/help/individual/return-applicable-1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6398F1-2EF3-4088-B64C-42213F7BE8C7}"/>
              </a:ext>
            </a:extLst>
          </p:cNvPr>
          <p:cNvSpPr>
            <a:spLocks noGrp="1"/>
          </p:cNvSpPr>
          <p:nvPr/>
        </p:nvSpPr>
        <p:spPr>
          <a:xfrm>
            <a:off x="819150" y="904875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>
                <a:solidFill>
                  <a:srgbClr val="8FE0DC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8FE0DC"/>
                </a:solidFill>
                <a:latin typeface="Arial"/>
                <a:ea typeface="Arial"/>
                <a:cs typeface="Arial"/>
              </a:rPr>
              <a:t>CSE102</a:t>
            </a:r>
            <a:r>
              <a:rPr lang="en-US" sz="1350" b="1" dirty="0">
                <a:solidFill>
                  <a:srgbClr val="8FE0DC"/>
                </a:solidFill>
                <a:latin typeface="Arial"/>
                <a:ea typeface="Arial"/>
                <a:cs typeface="Arial"/>
              </a:rPr>
              <a:t>1</a:t>
            </a:r>
            <a:r>
              <a:rPr sz="1350" b="1" dirty="0">
                <a:solidFill>
                  <a:srgbClr val="8FE0DC"/>
                </a:solidFill>
                <a:latin typeface="Arial"/>
                <a:ea typeface="Arial"/>
                <a:cs typeface="Arial"/>
              </a:rPr>
              <a:t>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5AD924-9FE5-4E83-9464-7E7072B387CA}"/>
              </a:ext>
            </a:extLst>
          </p:cNvPr>
          <p:cNvSpPr>
            <a:spLocks noGrp="1"/>
          </p:cNvSpPr>
          <p:nvPr/>
        </p:nvSpPr>
        <p:spPr>
          <a:xfrm>
            <a:off x="819150" y="1666875"/>
            <a:ext cx="91440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Indian Income Tax</a:t>
            </a:r>
          </a:p>
          <a:p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Calculator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44A172-2098-48F8-8D6D-0A93A7485AA2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714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100" b="0">
                <a:solidFill>
                  <a:srgbClr val="DCE8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8EF"/>
                </a:solidFill>
                <a:latin typeface="Arial"/>
                <a:ea typeface="Arial"/>
                <a:cs typeface="Arial"/>
              </a:rPr>
              <a:t>A simple Python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F44BE9-9B64-4FE6-95D4-10FF4033C962}"/>
              </a:ext>
            </a:extLst>
          </p:cNvPr>
          <p:cNvSpPr>
            <a:spLocks noGrp="1"/>
          </p:cNvSpPr>
          <p:nvPr/>
        </p:nvSpPr>
        <p:spPr>
          <a:xfrm>
            <a:off x="857250" y="445770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Vinayak Sharma  |  26BAI10348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FC1E3-648F-4210-857C-1BF7FCB4EDB7}"/>
              </a:ext>
            </a:extLst>
          </p:cNvPr>
          <p:cNvSpPr>
            <a:spLocks noGrp="1"/>
          </p:cNvSpPr>
          <p:nvPr/>
        </p:nvSpPr>
        <p:spPr>
          <a:xfrm>
            <a:off x="857250" y="4886325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Instructor: Dr. D Lakshmi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1FA19F-02F7-4068-AEFB-33DED7EA5284}"/>
              </a:ext>
            </a:extLst>
          </p:cNvPr>
          <p:cNvSpPr>
            <a:spLocks noGrp="1"/>
          </p:cNvSpPr>
          <p:nvPr/>
        </p:nvSpPr>
        <p:spPr>
          <a:xfrm>
            <a:off x="857250" y="531495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Course code: CSE102</a:t>
            </a:r>
            <a:r>
              <a:rPr lang="en-US"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57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53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71E5A7-D534-4FFE-A387-DF8CA31D384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Introduction and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E50DBB-88D9-4C18-9306-57AD6E44186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565AB7-528F-4677-9E34-849411F39264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432AE-CBEC-4976-982D-EC23009A0FB8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10382250" cy="447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8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Tax is calculated in different income bands called slabs.</a:t>
            </a:r>
          </a:p>
          <a:p>
            <a:endParaRPr sz="1800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Doing the calculation by hand can be confusing.</a:t>
            </a:r>
          </a:p>
          <a:p>
            <a:endParaRPr sz="1800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This program asks for a salary and gives a simple tax estimate.</a:t>
            </a:r>
          </a:p>
          <a:p>
            <a:endParaRPr sz="1800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It is a learning project, not a tax filing tool.</a:t>
            </a:r>
          </a:p>
        </p:txBody>
      </p:sp>
    </p:spTree>
    <p:extLst>
      <p:ext uri="{BB962C8B-B14F-4D97-AF65-F5344CB8AC3E}">
        <p14:creationId xmlns:p14="http://schemas.microsoft.com/office/powerpoint/2010/main" val="76190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D0E6C2-9B1A-44AA-94A5-DB9DC0750F8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Functional Requirements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31050F-F810-4233-8420-6E9AB32C0F2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E95D03-059C-423A-8DCA-FC647729DE7F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03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CBA3A7-5C5E-4660-B238-FC7C643E490F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3048000" cy="2000250"/>
          </a:xfrm>
          <a:prstGeom prst="roundRect">
            <a:avLst>
              <a:gd name="adj" fmla="val 3810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1. Salary input</a:t>
            </a:r>
          </a:p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Enter yearly salary</a:t>
            </a:r>
          </a:p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and check the value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087F3B-AEDE-4E70-B0E9-3520FE2EF50A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3048000" cy="2000250"/>
          </a:xfrm>
          <a:prstGeom prst="roundRect">
            <a:avLst>
              <a:gd name="adj" fmla="val 3810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2. Tax calculation</a:t>
            </a:r>
          </a:p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Apply deduction, slabs,</a:t>
            </a:r>
          </a:p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rebate, relief, and cess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6BC9B8-251C-4B22-A147-F339FC447063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048000" cy="2000250"/>
          </a:xfrm>
          <a:prstGeom prst="roundRect">
            <a:avLst>
              <a:gd name="adj" fmla="val 3810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3. Result display</a:t>
            </a:r>
          </a:p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Show taxable income</a:t>
            </a:r>
          </a:p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and estimated tax</a:t>
            </a:r>
          </a:p>
        </p:txBody>
      </p:sp>
      <p:cxnSp>
        <p:nvCxnSpPr>
          <p:cNvPr id="16" name="Straight Arrow Connector 15"/>
          <p:cNvCxnSpPr>
            <a:stCxn id="4" idx="3"/>
            <a:endCxn id="5" idx="1"/>
          </p:cNvCxnSpPr>
          <p:nvPr/>
        </p:nvCxnSpPr>
        <p:spPr>
          <a:xfrm>
            <a:off x="4000500" y="2809875"/>
            <a:ext cx="57150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17" name="Straight Arrow Connector 16"/>
          <p:cNvCxnSpPr>
            <a:stCxn id="5" idx="3"/>
            <a:endCxn id="6" idx="1"/>
          </p:cNvCxnSpPr>
          <p:nvPr/>
        </p:nvCxnSpPr>
        <p:spPr>
          <a:xfrm>
            <a:off x="7620000" y="2809875"/>
            <a:ext cx="57150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6A832AB-8C7D-4BE7-A945-974CACCE0549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096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The user enters one salary. The program calculates and displays the result.</a:t>
            </a:r>
          </a:p>
        </p:txBody>
      </p:sp>
    </p:spTree>
    <p:extLst>
      <p:ext uri="{BB962C8B-B14F-4D97-AF65-F5344CB8AC3E}">
        <p14:creationId xmlns:p14="http://schemas.microsoft.com/office/powerpoint/2010/main" val="1521845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C2E04F-C2A3-4260-94C9-31A25613535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Non-functional Requirements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06D48-5A14-404B-8D2A-5E8268A370A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598A18-D9DC-4A78-A0E5-DD0C6A2A9E24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DA5C9F-F8C5-4623-8681-0FCF9D0EFA0A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1038225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Easy to use: prompts and results use simple words.</a:t>
            </a:r>
          </a:p>
          <a:p>
            <a:endParaRPr sz="1650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Reliable: checks for invalid or negative salary input.</a:t>
            </a:r>
          </a:p>
          <a:p>
            <a:endParaRPr sz="1650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Fast: calculates one result in a short time.</a:t>
            </a:r>
          </a:p>
          <a:p>
            <a:endParaRPr sz="1650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Private: does not save the salary or personal details.</a:t>
            </a:r>
          </a:p>
          <a:p>
            <a:endParaRPr sz="1650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Easy to maintain: comments explain the main calculation steps.</a:t>
            </a:r>
          </a:p>
        </p:txBody>
      </p:sp>
    </p:spTree>
    <p:extLst>
      <p:ext uri="{BB962C8B-B14F-4D97-AF65-F5344CB8AC3E}">
        <p14:creationId xmlns:p14="http://schemas.microsoft.com/office/powerpoint/2010/main" val="2113050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D868ACE-67DC-43B2-819B-31EB7DC90CD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Tax Rules Used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74FE63-54BC-4FA2-B4D6-8C0BC43C948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DE474-EF8C-48C1-B8E0-3AD3041C378F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A3DAB-A426-488E-B46F-4508F9E720AA}"/>
              </a:ext>
            </a:extLst>
          </p:cNvPr>
          <p:cNvSpPr>
            <a:spLocks noGrp="1"/>
          </p:cNvSpPr>
          <p:nvPr/>
        </p:nvSpPr>
        <p:spPr>
          <a:xfrm>
            <a:off x="904875" y="1333500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444"/>
                </a:solidFill>
                <a:latin typeface="Arial"/>
                <a:ea typeface="Arial"/>
                <a:cs typeface="Arial"/>
              </a:rPr>
              <a:t>The program uses the new tax regime for FY 2025-26 (AY 2026-27).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D0161-689A-48E4-B23E-D0CFE4EA768C}"/>
              </a:ext>
            </a:extLst>
          </p:cNvPr>
          <p:cNvSpPr>
            <a:spLocks noGrp="1"/>
          </p:cNvSpPr>
          <p:nvPr/>
        </p:nvSpPr>
        <p:spPr>
          <a:xfrm>
            <a:off x="1000125" y="2047875"/>
            <a:ext cx="4572000" cy="3190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Up to ₹4 lakh: 0%</a:t>
            </a:r>
          </a:p>
          <a:p>
            <a:endParaRPr sz="1575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₹4–8 lakh: 5%</a:t>
            </a:r>
          </a:p>
          <a:p>
            <a:endParaRPr sz="1575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₹8–12 lakh: 10%</a:t>
            </a:r>
          </a:p>
          <a:p>
            <a:endParaRPr sz="1575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₹12–16 lakh: 15%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CBA273-E894-4E0A-B737-0FB50A89BBB3}"/>
              </a:ext>
            </a:extLst>
          </p:cNvPr>
          <p:cNvSpPr>
            <a:spLocks noGrp="1"/>
          </p:cNvSpPr>
          <p:nvPr/>
        </p:nvSpPr>
        <p:spPr>
          <a:xfrm>
            <a:off x="6286500" y="2047875"/>
            <a:ext cx="4762500" cy="27146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₹16–20 lakh: 20%</a:t>
            </a:r>
          </a:p>
          <a:p>
            <a:endParaRPr sz="1575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₹20–24 lakh: 25%</a:t>
            </a:r>
          </a:p>
          <a:p>
            <a:endParaRPr sz="1575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Above ₹24 lakh: 30%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179530-60E8-4601-80AC-06269FC8968B}"/>
              </a:ext>
            </a:extLst>
          </p:cNvPr>
          <p:cNvSpPr>
            <a:spLocks noGrp="1"/>
          </p:cNvSpPr>
          <p:nvPr/>
        </p:nvSpPr>
        <p:spPr>
          <a:xfrm>
            <a:off x="904875" y="546735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Salary deduction: up to ₹75,000  |  Cess: 4%  |  Rebate up to ₹12 lakh taxable income for eligible residents</a:t>
            </a:r>
          </a:p>
        </p:txBody>
      </p:sp>
    </p:spTree>
    <p:extLst>
      <p:ext uri="{BB962C8B-B14F-4D97-AF65-F5344CB8AC3E}">
        <p14:creationId xmlns:p14="http://schemas.microsoft.com/office/powerpoint/2010/main" val="96188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EEAD40-B532-4A7D-937F-99AFFF06AF9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FB462-4ACD-409D-838A-1856B6DA162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C4D382-FDDC-487E-AE92-AC94C5761B47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6DE59-6D40-416D-B13C-B0AE0418E357}"/>
              </a:ext>
            </a:extLst>
          </p:cNvPr>
          <p:cNvSpPr>
            <a:spLocks noGrp="1"/>
          </p:cNvSpPr>
          <p:nvPr/>
        </p:nvSpPr>
        <p:spPr>
          <a:xfrm>
            <a:off x="952500" y="1381125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The program works in a simple sequence: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7E297E-231E-4E4E-A6AF-630896848CF4}"/>
              </a:ext>
            </a:extLst>
          </p:cNvPr>
          <p:cNvSpPr>
            <a:spLocks noGrp="1"/>
          </p:cNvSpPr>
          <p:nvPr/>
        </p:nvSpPr>
        <p:spPr>
          <a:xfrm>
            <a:off x="904875" y="2524125"/>
            <a:ext cx="2000250" cy="1190625"/>
          </a:xfrm>
          <a:prstGeom prst="roundRect">
            <a:avLst>
              <a:gd name="adj" fmla="val 6400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Salaried</a:t>
            </a:r>
          </a:p>
          <a:p>
            <a:pPr algn="ctr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6248C6-B73A-4AE7-A0EB-43A2A7DDFB37}"/>
              </a:ext>
            </a:extLst>
          </p:cNvPr>
          <p:cNvSpPr>
            <a:spLocks noGrp="1"/>
          </p:cNvSpPr>
          <p:nvPr/>
        </p:nvSpPr>
        <p:spPr>
          <a:xfrm>
            <a:off x="3857625" y="2524125"/>
            <a:ext cx="2000250" cy="1190625"/>
          </a:xfrm>
          <a:prstGeom prst="roundRect">
            <a:avLst>
              <a:gd name="adj" fmla="val 6400"/>
            </a:avLst>
          </a:prstGeom>
          <a:solidFill>
            <a:srgbClr val="DCEFF0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Python</a:t>
            </a:r>
          </a:p>
          <a:p>
            <a:pPr algn="ctr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012D16-172B-4149-B6EC-0BCCEEA277FA}"/>
              </a:ext>
            </a:extLst>
          </p:cNvPr>
          <p:cNvSpPr>
            <a:spLocks noGrp="1"/>
          </p:cNvSpPr>
          <p:nvPr/>
        </p:nvSpPr>
        <p:spPr>
          <a:xfrm>
            <a:off x="6810375" y="2524125"/>
            <a:ext cx="2000250" cy="1190625"/>
          </a:xfrm>
          <a:prstGeom prst="roundRect">
            <a:avLst>
              <a:gd name="adj" fmla="val 6400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Tax estimate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19B7AD-6E71-4658-AC9F-ACA94BD7E5BD}"/>
              </a:ext>
            </a:extLst>
          </p:cNvPr>
          <p:cNvSpPr>
            <a:spLocks noGrp="1"/>
          </p:cNvSpPr>
          <p:nvPr/>
        </p:nvSpPr>
        <p:spPr>
          <a:xfrm>
            <a:off x="9763125" y="2524125"/>
            <a:ext cx="1619250" cy="1190625"/>
          </a:xfrm>
          <a:prstGeom prst="roundRect">
            <a:avLst>
              <a:gd name="adj" fmla="val 6400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 dirty="0" err="1">
                <a:solidFill>
                  <a:srgbClr val="243444"/>
                </a:solidFill>
                <a:latin typeface="Arial"/>
                <a:ea typeface="Arial"/>
                <a:cs typeface="Arial"/>
              </a:rPr>
              <a:t>T</a:t>
            </a:r>
            <a:r>
              <a:rPr lang="en-US" sz="1725" b="0" dirty="0" err="1">
                <a:solidFill>
                  <a:srgbClr val="243444"/>
                </a:solidFill>
                <a:latin typeface="Arial"/>
                <a:ea typeface="Arial"/>
                <a:cs typeface="Arial"/>
              </a:rPr>
              <a:t>kinter</a:t>
            </a:r>
            <a:r>
              <a:rPr lang="en-US" sz="1725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 GUI result window </a:t>
            </a:r>
            <a:endParaRPr sz="1725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" name="Straight Arrow Connector 21"/>
          <p:cNvCxnSpPr>
            <a:stCxn id="5" idx="3"/>
            <a:endCxn id="6" idx="1"/>
          </p:cNvCxnSpPr>
          <p:nvPr/>
        </p:nvCxnSpPr>
        <p:spPr>
          <a:xfrm>
            <a:off x="2905125" y="3119438"/>
            <a:ext cx="95250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23" name="Straight Arrow Connector 22"/>
          <p:cNvCxnSpPr>
            <a:stCxn id="6" idx="3"/>
            <a:endCxn id="7" idx="1"/>
          </p:cNvCxnSpPr>
          <p:nvPr/>
        </p:nvCxnSpPr>
        <p:spPr>
          <a:xfrm>
            <a:off x="5857875" y="3119438"/>
            <a:ext cx="95250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24" name="Straight Arrow Connector 23"/>
          <p:cNvCxnSpPr>
            <a:stCxn id="7" idx="3"/>
            <a:endCxn id="8" idx="1"/>
          </p:cNvCxnSpPr>
          <p:nvPr/>
        </p:nvCxnSpPr>
        <p:spPr>
          <a:xfrm>
            <a:off x="8810625" y="3119438"/>
            <a:ext cx="95250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9277A-A7E1-4177-AD21-D597DD07E382}"/>
              </a:ext>
            </a:extLst>
          </p:cNvPr>
          <p:cNvSpPr>
            <a:spLocks noGrp="1"/>
          </p:cNvSpPr>
          <p:nvPr/>
        </p:nvSpPr>
        <p:spPr>
          <a:xfrm>
            <a:off x="1666875" y="4333875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Input salary  →  calculate tax  →  show the result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F9C512-4E82-44F1-9562-57D4EB804575}"/>
              </a:ext>
            </a:extLst>
          </p:cNvPr>
          <p:cNvSpPr>
            <a:spLocks noGrp="1"/>
          </p:cNvSpPr>
          <p:nvPr/>
        </p:nvSpPr>
        <p:spPr>
          <a:xfrm>
            <a:off x="1524000" y="528637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The program does not use a database or save salary details.</a:t>
            </a:r>
          </a:p>
        </p:txBody>
      </p:sp>
    </p:spTree>
    <p:extLst>
      <p:ext uri="{BB962C8B-B14F-4D97-AF65-F5344CB8AC3E}">
        <p14:creationId xmlns:p14="http://schemas.microsoft.com/office/powerpoint/2010/main" val="154669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877A5B-8CF9-4C6E-B994-2A4B0541AB4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Use Case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E75A1A-CBEF-494D-85F3-B7C46CEEE87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1782A-1188-4ABC-A387-7176E081EC45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07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7B9A0B-1D40-4AB4-A538-A92B4ADFA468}"/>
              </a:ext>
            </a:extLst>
          </p:cNvPr>
          <p:cNvSpPr>
            <a:spLocks noGrp="1"/>
          </p:cNvSpPr>
          <p:nvPr/>
        </p:nvSpPr>
        <p:spPr>
          <a:xfrm>
            <a:off x="1095375" y="2524125"/>
            <a:ext cx="2047875" cy="1238250"/>
          </a:xfrm>
          <a:prstGeom prst="ellipse">
            <a:avLst/>
          </a:prstGeom>
          <a:solidFill>
            <a:srgbClr val="F4F7F9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8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Salaried</a:t>
            </a:r>
          </a:p>
          <a:p>
            <a:pPr algn="ctr">
              <a:defRPr sz="18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00BA12-4DF6-4C02-AFB9-A160E387E2A5}"/>
              </a:ext>
            </a:extLst>
          </p:cNvPr>
          <p:cNvSpPr>
            <a:spLocks noGrp="1"/>
          </p:cNvSpPr>
          <p:nvPr/>
        </p:nvSpPr>
        <p:spPr>
          <a:xfrm>
            <a:off x="5143500" y="1952625"/>
            <a:ext cx="2857500" cy="1143000"/>
          </a:xfrm>
          <a:prstGeom prst="ellipse">
            <a:avLst/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Enter yearly</a:t>
            </a:r>
          </a:p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salary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1DEF21-9EEC-420B-94C6-F651F197FD62}"/>
              </a:ext>
            </a:extLst>
          </p:cNvPr>
          <p:cNvSpPr>
            <a:spLocks noGrp="1"/>
          </p:cNvSpPr>
          <p:nvPr/>
        </p:nvSpPr>
        <p:spPr>
          <a:xfrm>
            <a:off x="5143500" y="3714750"/>
            <a:ext cx="2857500" cy="1143000"/>
          </a:xfrm>
          <a:prstGeom prst="ellipse">
            <a:avLst/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View tax</a:t>
            </a:r>
          </a:p>
          <a:p>
            <a:pPr algn="ctr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cxnSp>
        <p:nvCxnSpPr>
          <p:cNvPr id="16" name="Straight Arrow Connector 15"/>
          <p:cNvCxnSpPr>
            <a:stCxn id="4" idx="6"/>
            <a:endCxn id="5" idx="2"/>
          </p:cNvCxnSpPr>
          <p:nvPr/>
        </p:nvCxnSpPr>
        <p:spPr>
          <a:xfrm flipV="1">
            <a:off x="3143250" y="2524125"/>
            <a:ext cx="2000250" cy="619125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17" name="Straight Arrow Connector 16"/>
          <p:cNvCxnSpPr>
            <a:stCxn id="4" idx="6"/>
            <a:endCxn id="6" idx="2"/>
          </p:cNvCxnSpPr>
          <p:nvPr/>
        </p:nvCxnSpPr>
        <p:spPr>
          <a:xfrm>
            <a:off x="3143250" y="3143250"/>
            <a:ext cx="2000250" cy="114300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F006EB2-869A-4DC5-ADA2-E5D08224870B}"/>
              </a:ext>
            </a:extLst>
          </p:cNvPr>
          <p:cNvSpPr>
            <a:spLocks noGrp="1"/>
          </p:cNvSpPr>
          <p:nvPr/>
        </p:nvSpPr>
        <p:spPr>
          <a:xfrm>
            <a:off x="3143250" y="5381625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User goal: get an estimated tax result.</a:t>
            </a:r>
          </a:p>
        </p:txBody>
      </p:sp>
    </p:spTree>
    <p:extLst>
      <p:ext uri="{BB962C8B-B14F-4D97-AF65-F5344CB8AC3E}">
        <p14:creationId xmlns:p14="http://schemas.microsoft.com/office/powerpoint/2010/main" val="176309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F3E935B-5A87-43E5-ADE9-8DC2000CD81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Workflow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6C7122-D4CA-4179-9398-0CDBF1EC91A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9343D-6F5B-4740-B5B5-0515CE764BC2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08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F1E3AD-7394-49FB-AC49-C479AB1623E8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E6F1EA"/>
          </a:solidFill>
          <a:ln w="19050">
            <a:solidFill>
              <a:srgbClr val="2F6B4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F515AA-4CE9-41F5-9756-8F9F4CF03239}"/>
              </a:ext>
            </a:extLst>
          </p:cNvPr>
          <p:cNvSpPr>
            <a:spLocks noGrp="1"/>
          </p:cNvSpPr>
          <p:nvPr/>
        </p:nvSpPr>
        <p:spPr>
          <a:xfrm>
            <a:off x="2657475" y="2619375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Enter salary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EBCB39-B900-4507-830C-B89A147C40B6}"/>
              </a:ext>
            </a:extLst>
          </p:cNvPr>
          <p:cNvSpPr>
            <a:spLocks noGrp="1"/>
          </p:cNvSpPr>
          <p:nvPr/>
        </p:nvSpPr>
        <p:spPr>
          <a:xfrm>
            <a:off x="4552950" y="2619375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Check input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EF49E4-52E0-449F-BDBC-FFE4F1AEDA94}"/>
              </a:ext>
            </a:extLst>
          </p:cNvPr>
          <p:cNvSpPr>
            <a:spLocks noGrp="1"/>
          </p:cNvSpPr>
          <p:nvPr/>
        </p:nvSpPr>
        <p:spPr>
          <a:xfrm>
            <a:off x="6448425" y="2619375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Calculate tax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329383-18EA-4573-BBD7-19F246DE7B4B}"/>
              </a:ext>
            </a:extLst>
          </p:cNvPr>
          <p:cNvSpPr>
            <a:spLocks noGrp="1"/>
          </p:cNvSpPr>
          <p:nvPr/>
        </p:nvSpPr>
        <p:spPr>
          <a:xfrm>
            <a:off x="8343900" y="2619375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Show result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DD01EB-4F91-43A8-9C83-1CE707BEFE04}"/>
              </a:ext>
            </a:extLst>
          </p:cNvPr>
          <p:cNvSpPr>
            <a:spLocks noGrp="1"/>
          </p:cNvSpPr>
          <p:nvPr/>
        </p:nvSpPr>
        <p:spPr>
          <a:xfrm>
            <a:off x="10239375" y="2619375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E6F1EA"/>
          </a:solidFill>
          <a:ln w="19050">
            <a:solidFill>
              <a:srgbClr val="2F6B4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End</a:t>
            </a:r>
          </a:p>
        </p:txBody>
      </p:sp>
      <p:cxnSp>
        <p:nvCxnSpPr>
          <p:cNvPr id="25" name="Straight Arrow Connector 24"/>
          <p:cNvCxnSpPr>
            <a:stCxn id="4" idx="3"/>
            <a:endCxn id="5" idx="1"/>
          </p:cNvCxnSpPr>
          <p:nvPr/>
        </p:nvCxnSpPr>
        <p:spPr>
          <a:xfrm>
            <a:off x="2333625" y="3119438"/>
            <a:ext cx="32385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26" name="Straight Arrow Connector 25"/>
          <p:cNvCxnSpPr>
            <a:stCxn id="5" idx="3"/>
            <a:endCxn id="6" idx="1"/>
          </p:cNvCxnSpPr>
          <p:nvPr/>
        </p:nvCxnSpPr>
        <p:spPr>
          <a:xfrm>
            <a:off x="4229100" y="3119438"/>
            <a:ext cx="32385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27" name="Straight Arrow Connector 26"/>
          <p:cNvCxnSpPr>
            <a:stCxn id="6" idx="3"/>
            <a:endCxn id="7" idx="1"/>
          </p:cNvCxnSpPr>
          <p:nvPr/>
        </p:nvCxnSpPr>
        <p:spPr>
          <a:xfrm>
            <a:off x="6124575" y="3119438"/>
            <a:ext cx="32385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28" name="Straight Arrow Connector 27"/>
          <p:cNvCxnSpPr>
            <a:stCxn id="7" idx="3"/>
            <a:endCxn id="8" idx="1"/>
          </p:cNvCxnSpPr>
          <p:nvPr/>
        </p:nvCxnSpPr>
        <p:spPr>
          <a:xfrm>
            <a:off x="8020050" y="3119438"/>
            <a:ext cx="32385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29" name="Straight Arrow Connector 28"/>
          <p:cNvCxnSpPr>
            <a:stCxn id="8" idx="3"/>
            <a:endCxn id="9" idx="1"/>
          </p:cNvCxnSpPr>
          <p:nvPr/>
        </p:nvCxnSpPr>
        <p:spPr>
          <a:xfrm>
            <a:off x="9915525" y="3119438"/>
            <a:ext cx="32385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F0BB0-A63D-48AB-87BB-30616B7E78A8}"/>
              </a:ext>
            </a:extLst>
          </p:cNvPr>
          <p:cNvSpPr>
            <a:spLocks noGrp="1"/>
          </p:cNvSpPr>
          <p:nvPr/>
        </p:nvSpPr>
        <p:spPr>
          <a:xfrm>
            <a:off x="1143000" y="4524375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6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If the input is not a valid non-negative number, the program shows an error and stops.</a:t>
            </a:r>
          </a:p>
        </p:txBody>
      </p:sp>
    </p:spTree>
    <p:extLst>
      <p:ext uri="{BB962C8B-B14F-4D97-AF65-F5344CB8AC3E}">
        <p14:creationId xmlns:p14="http://schemas.microsoft.com/office/powerpoint/2010/main" val="106367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14CC6EC-8EA9-44A7-A1AF-F5BF012C4F8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Sequence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D0A98B-55A3-4E70-BC5D-8A9DC3FE50D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5DA7EB-4CF0-44CD-BFFA-9AA6E3C3B126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09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DEA8CF-10A3-4D83-A71F-70D119C5710B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3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7E11A3-5129-41F6-80A2-70C7E14DF04C}"/>
              </a:ext>
            </a:extLst>
          </p:cNvPr>
          <p:cNvSpPr>
            <a:spLocks noGrp="1"/>
          </p:cNvSpPr>
          <p:nvPr/>
        </p:nvSpPr>
        <p:spPr>
          <a:xfrm>
            <a:off x="3238500" y="1381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3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636A74-4807-4A07-A2B3-4CC4A85BFA9F}"/>
              </a:ext>
            </a:extLst>
          </p:cNvPr>
          <p:cNvSpPr>
            <a:spLocks noGrp="1"/>
          </p:cNvSpPr>
          <p:nvPr/>
        </p:nvSpPr>
        <p:spPr>
          <a:xfrm>
            <a:off x="6096000" y="1381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3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Tax calculation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A89FCD-D091-49F8-B129-04D378C2174A}"/>
              </a:ext>
            </a:extLst>
          </p:cNvPr>
          <p:cNvSpPr>
            <a:spLocks noGrp="1"/>
          </p:cNvSpPr>
          <p:nvPr/>
        </p:nvSpPr>
        <p:spPr>
          <a:xfrm>
            <a:off x="8953500" y="1381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3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Terminal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7E66686-33CC-40E8-98D2-D8D098FD32D6}"/>
              </a:ext>
            </a:extLst>
          </p:cNvPr>
          <p:cNvSpPr>
            <a:spLocks noGrp="1"/>
          </p:cNvSpPr>
          <p:nvPr/>
        </p:nvSpPr>
        <p:spPr>
          <a:xfrm>
            <a:off x="1524000" y="2143125"/>
            <a:ext cx="0" cy="3333750"/>
          </a:xfrm>
          <a:prstGeom prst="line">
            <a:avLst/>
          </a:prstGeom>
          <a:noFill/>
          <a:ln w="19050">
            <a:solidFill>
              <a:srgbClr val="9FB3C1"/>
            </a:solidFill>
            <a:prstDash val="dash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A4D96CA-8B0D-40B8-9B01-CB795E5C2545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0" cy="3333750"/>
          </a:xfrm>
          <a:prstGeom prst="line">
            <a:avLst/>
          </a:prstGeom>
          <a:noFill/>
          <a:ln w="19050">
            <a:solidFill>
              <a:srgbClr val="9FB3C1"/>
            </a:solidFill>
            <a:prstDash val="dash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F1678CF-F566-463E-B322-BB8D0398D648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0" cy="3333750"/>
          </a:xfrm>
          <a:prstGeom prst="line">
            <a:avLst/>
          </a:prstGeom>
          <a:noFill/>
          <a:ln w="19050">
            <a:solidFill>
              <a:srgbClr val="9FB3C1"/>
            </a:solidFill>
            <a:prstDash val="dash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99732BC-C424-48CA-ACB5-4B1C46D99F88}"/>
              </a:ext>
            </a:extLst>
          </p:cNvPr>
          <p:cNvSpPr>
            <a:spLocks noGrp="1"/>
          </p:cNvSpPr>
          <p:nvPr/>
        </p:nvSpPr>
        <p:spPr>
          <a:xfrm>
            <a:off x="9810750" y="2143125"/>
            <a:ext cx="0" cy="3333750"/>
          </a:xfrm>
          <a:prstGeom prst="line">
            <a:avLst/>
          </a:prstGeom>
          <a:noFill/>
          <a:ln w="19050">
            <a:solidFill>
              <a:srgbClr val="9FB3C1"/>
            </a:solidFill>
            <a:prstDash val="dash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4C6ABC-2CDE-4C72-BB6F-2233C53C6FA4}"/>
              </a:ext>
            </a:extLst>
          </p:cNvPr>
          <p:cNvSpPr>
            <a:spLocks noGrp="1"/>
          </p:cNvSpPr>
          <p:nvPr/>
        </p:nvSpPr>
        <p:spPr>
          <a:xfrm>
            <a:off x="1524000" y="2619375"/>
            <a:ext cx="2571750" cy="0"/>
          </a:xfrm>
          <a:prstGeom prst="line">
            <a:avLst/>
          </a:prstGeom>
          <a:noFill/>
          <a:ln w="19050">
            <a:solidFill>
              <a:srgbClr val="087E8B"/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806559A-6031-4EEA-B873-A975F03A0BE3}"/>
              </a:ext>
            </a:extLst>
          </p:cNvPr>
          <p:cNvSpPr>
            <a:spLocks noGrp="1"/>
          </p:cNvSpPr>
          <p:nvPr/>
        </p:nvSpPr>
        <p:spPr>
          <a:xfrm rot="5400000">
            <a:off x="4000500" y="2552700"/>
            <a:ext cx="133350" cy="133350"/>
          </a:xfrm>
          <a:prstGeom prst="triangle">
            <a:avLst/>
          </a:prstGeom>
          <a:solidFill>
            <a:srgbClr val="087E8B"/>
          </a:solidFill>
          <a:ln w="9525">
            <a:solidFill>
              <a:srgbClr val="087E8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88ED28-208B-4E7F-8ADB-FD33AB747E93}"/>
              </a:ext>
            </a:extLst>
          </p:cNvPr>
          <p:cNvSpPr>
            <a:spLocks noGrp="1"/>
          </p:cNvSpPr>
          <p:nvPr/>
        </p:nvSpPr>
        <p:spPr>
          <a:xfrm>
            <a:off x="1381125" y="2305050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1. Enter salary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DD0843E-C704-4662-A201-860887483A7C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2857500" cy="0"/>
          </a:xfrm>
          <a:prstGeom prst="line">
            <a:avLst/>
          </a:prstGeom>
          <a:noFill/>
          <a:ln w="19050">
            <a:solidFill>
              <a:srgbClr val="087E8B"/>
            </a:solidFill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E39C952-0BD0-4BC0-B919-47D31B2BCE8D}"/>
              </a:ext>
            </a:extLst>
          </p:cNvPr>
          <p:cNvSpPr>
            <a:spLocks noGrp="1"/>
          </p:cNvSpPr>
          <p:nvPr/>
        </p:nvSpPr>
        <p:spPr>
          <a:xfrm rot="5400000">
            <a:off x="6858000" y="3267075"/>
            <a:ext cx="133350" cy="133350"/>
          </a:xfrm>
          <a:prstGeom prst="triangle">
            <a:avLst/>
          </a:prstGeom>
          <a:solidFill>
            <a:srgbClr val="087E8B"/>
          </a:solidFill>
          <a:ln w="9525">
            <a:solidFill>
              <a:srgbClr val="087E8B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F14803-6753-48C7-B923-0A5BBAA3B54F}"/>
              </a:ext>
            </a:extLst>
          </p:cNvPr>
          <p:cNvSpPr>
            <a:spLocks noGrp="1"/>
          </p:cNvSpPr>
          <p:nvPr/>
        </p:nvSpPr>
        <p:spPr>
          <a:xfrm>
            <a:off x="3952875" y="301942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2. Calculate slabs and relief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2C07DBF-2B7E-45DA-BF46-A602D929CD07}"/>
              </a:ext>
            </a:extLst>
          </p:cNvPr>
          <p:cNvSpPr>
            <a:spLocks noGrp="1"/>
          </p:cNvSpPr>
          <p:nvPr/>
        </p:nvSpPr>
        <p:spPr>
          <a:xfrm>
            <a:off x="4095750" y="4048125"/>
            <a:ext cx="2857500" cy="0"/>
          </a:xfrm>
          <a:prstGeom prst="line">
            <a:avLst/>
          </a:prstGeom>
          <a:noFill/>
          <a:ln w="19050">
            <a:solidFill>
              <a:srgbClr val="087E8B"/>
            </a:solidFill>
            <a:prstDash val="solid"/>
          </a:ln>
        </p:spPr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59EDC0F-4F21-45D3-BB2D-698199ACE2DF}"/>
              </a:ext>
            </a:extLst>
          </p:cNvPr>
          <p:cNvSpPr>
            <a:spLocks noGrp="1"/>
          </p:cNvSpPr>
          <p:nvPr/>
        </p:nvSpPr>
        <p:spPr>
          <a:xfrm rot="16200000">
            <a:off x="4076700" y="3981450"/>
            <a:ext cx="133350" cy="133350"/>
          </a:xfrm>
          <a:prstGeom prst="triangle">
            <a:avLst/>
          </a:prstGeom>
          <a:solidFill>
            <a:srgbClr val="087E8B"/>
          </a:solidFill>
          <a:ln w="9525">
            <a:solidFill>
              <a:srgbClr val="087E8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B734C6-241B-40C6-85D0-0F0EEE87673B}"/>
              </a:ext>
            </a:extLst>
          </p:cNvPr>
          <p:cNvSpPr>
            <a:spLocks noGrp="1"/>
          </p:cNvSpPr>
          <p:nvPr/>
        </p:nvSpPr>
        <p:spPr>
          <a:xfrm>
            <a:off x="3952875" y="3733800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3. Return tax estimate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086A123A-42E1-4AE9-9F11-943E0EF9B3E0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5715000" cy="0"/>
          </a:xfrm>
          <a:prstGeom prst="line">
            <a:avLst/>
          </a:prstGeom>
          <a:noFill/>
          <a:ln w="19050">
            <a:solidFill>
              <a:srgbClr val="087E8B"/>
            </a:solidFill>
            <a:prstDash val="solid"/>
          </a:ln>
        </p:spPr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218B217-82DC-4C42-908E-09565D7A3B9E}"/>
              </a:ext>
            </a:extLst>
          </p:cNvPr>
          <p:cNvSpPr>
            <a:spLocks noGrp="1"/>
          </p:cNvSpPr>
          <p:nvPr/>
        </p:nvSpPr>
        <p:spPr>
          <a:xfrm rot="5400000">
            <a:off x="9715500" y="4695825"/>
            <a:ext cx="133350" cy="133350"/>
          </a:xfrm>
          <a:prstGeom prst="triangle">
            <a:avLst/>
          </a:prstGeom>
          <a:solidFill>
            <a:srgbClr val="087E8B"/>
          </a:solidFill>
          <a:ln w="9525">
            <a:solidFill>
              <a:srgbClr val="087E8B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D85DB-697B-480F-A530-F9E61E57FD7A}"/>
              </a:ext>
            </a:extLst>
          </p:cNvPr>
          <p:cNvSpPr>
            <a:spLocks noGrp="1"/>
          </p:cNvSpPr>
          <p:nvPr/>
        </p:nvSpPr>
        <p:spPr>
          <a:xfrm>
            <a:off x="3952875" y="4448175"/>
            <a:ext cx="600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4. Print result</a:t>
            </a:r>
          </a:p>
        </p:txBody>
      </p:sp>
    </p:spTree>
    <p:extLst>
      <p:ext uri="{BB962C8B-B14F-4D97-AF65-F5344CB8AC3E}">
        <p14:creationId xmlns:p14="http://schemas.microsoft.com/office/powerpoint/2010/main" val="1652178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786979B-A34C-434E-ABD1-4376DC85F25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Program Parts and Data Storage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4C6F8-9908-447A-9950-7CBEF8EB233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79A2A2-EE8C-4DBF-AADC-1A631B8B0D44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536F16-C0FC-43BB-8B10-48DF9812E7B7}"/>
              </a:ext>
            </a:extLst>
          </p:cNvPr>
          <p:cNvSpPr>
            <a:spLocks noGrp="1"/>
          </p:cNvSpPr>
          <p:nvPr/>
        </p:nvSpPr>
        <p:spPr>
          <a:xfrm>
            <a:off x="904875" y="1352550"/>
            <a:ext cx="1019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444"/>
                </a:solidFill>
                <a:latin typeface="Arial"/>
                <a:ea typeface="Arial"/>
                <a:cs typeface="Arial"/>
              </a:rPr>
              <a:t>Main parts inside the Python program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2A49D4-77DD-4DBC-AE5F-290944AC9509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2381250" cy="1190625"/>
          </a:xfrm>
          <a:prstGeom prst="roundRect">
            <a:avLst>
              <a:gd name="adj" fmla="val 6400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Salary input</a:t>
            </a:r>
          </a:p>
          <a:p>
            <a:pPr algn="ctr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and check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D692B4-2DCB-45DA-89A6-A969484F6108}"/>
              </a:ext>
            </a:extLst>
          </p:cNvPr>
          <p:cNvSpPr>
            <a:spLocks noGrp="1"/>
          </p:cNvSpPr>
          <p:nvPr/>
        </p:nvSpPr>
        <p:spPr>
          <a:xfrm>
            <a:off x="4905375" y="2381250"/>
            <a:ext cx="2381250" cy="1190625"/>
          </a:xfrm>
          <a:prstGeom prst="roundRect">
            <a:avLst>
              <a:gd name="adj" fmla="val 6400"/>
            </a:avLst>
          </a:prstGeom>
          <a:solidFill>
            <a:srgbClr val="DCEFF0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Tax slab</a:t>
            </a:r>
          </a:p>
          <a:p>
            <a:pPr algn="ctr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calculation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917A70-8E19-497F-970B-9C32CB05F79B}"/>
              </a:ext>
            </a:extLst>
          </p:cNvPr>
          <p:cNvSpPr>
            <a:spLocks noGrp="1"/>
          </p:cNvSpPr>
          <p:nvPr/>
        </p:nvSpPr>
        <p:spPr>
          <a:xfrm>
            <a:off x="8810625" y="2381250"/>
            <a:ext cx="2381250" cy="1190625"/>
          </a:xfrm>
          <a:prstGeom prst="roundRect">
            <a:avLst>
              <a:gd name="adj" fmla="val 6400"/>
            </a:avLst>
          </a:prstGeom>
          <a:solidFill>
            <a:srgbClr val="EAF3F5"/>
          </a:solidFill>
          <a:ln w="19050">
            <a:solidFill>
              <a:srgbClr val="087E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Result</a:t>
            </a:r>
          </a:p>
          <a:p>
            <a:pPr algn="ctr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cxnSp>
        <p:nvCxnSpPr>
          <p:cNvPr id="19" name="Straight Arrow Connector 18"/>
          <p:cNvCxnSpPr>
            <a:stCxn id="5" idx="3"/>
            <a:endCxn id="6" idx="1"/>
          </p:cNvCxnSpPr>
          <p:nvPr/>
        </p:nvCxnSpPr>
        <p:spPr>
          <a:xfrm>
            <a:off x="3381375" y="2976563"/>
            <a:ext cx="152400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cxnSp>
        <p:nvCxnSpPr>
          <p:cNvPr id="20" name="Straight Arrow Connector 19"/>
          <p:cNvCxnSpPr>
            <a:stCxn id="6" idx="3"/>
            <a:endCxn id="7" idx="1"/>
          </p:cNvCxnSpPr>
          <p:nvPr/>
        </p:nvCxnSpPr>
        <p:spPr>
          <a:xfrm>
            <a:off x="7286625" y="2976563"/>
            <a:ext cx="1524000" cy="0"/>
          </a:xfrm>
          <a:prstGeom prst="straightConnector1">
            <a:avLst/>
          </a:prstGeom>
          <a:ln w="19050">
            <a:solidFill>
              <a:srgbClr val="087E8B"/>
            </a:solidFill>
            <a:prstDash val="solid"/>
            <a:tailEnd type="arrow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540488F-DB8E-4834-B007-77C5DC1D74F0}"/>
              </a:ext>
            </a:extLst>
          </p:cNvPr>
          <p:cNvSpPr>
            <a:spLocks noGrp="1"/>
          </p:cNvSpPr>
          <p:nvPr/>
        </p:nvSpPr>
        <p:spPr>
          <a:xfrm>
            <a:off x="1762125" y="4048125"/>
            <a:ext cx="866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All parts are in the beginner's Python program.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4FEF9C-06A0-4E47-9934-A63F217532AF}"/>
              </a:ext>
            </a:extLst>
          </p:cNvPr>
          <p:cNvSpPr>
            <a:spLocks noGrp="1"/>
          </p:cNvSpPr>
          <p:nvPr/>
        </p:nvSpPr>
        <p:spPr>
          <a:xfrm>
            <a:off x="1524000" y="5048250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No database is used, so an ER diagram is not needed.</a:t>
            </a:r>
          </a:p>
        </p:txBody>
      </p:sp>
    </p:spTree>
    <p:extLst>
      <p:ext uri="{BB962C8B-B14F-4D97-AF65-F5344CB8AC3E}">
        <p14:creationId xmlns:p14="http://schemas.microsoft.com/office/powerpoint/2010/main" val="1216332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A4137D-477A-48E9-821A-3A2FD8E40D0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Design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63EAC4-BA39-48C4-A6B9-5463CA9DB6CC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65388B-CED7-4874-BE98-D1996D033352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94388-AD52-4CE5-AF1C-706BE9FF4F10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1038225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Use </a:t>
            </a:r>
            <a:r>
              <a:rPr lang="en-US" sz="1650" dirty="0" err="1">
                <a:solidFill>
                  <a:srgbClr val="243444"/>
                </a:solidFill>
                <a:latin typeface="Arial"/>
                <a:ea typeface="Arial"/>
                <a:cs typeface="Arial"/>
              </a:rPr>
              <a:t>Tkinter</a:t>
            </a:r>
            <a:r>
              <a:rPr lang="en-US" sz="165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 for a graphical interface</a:t>
            </a:r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Use progressive slabs because each rate applies to part of the income.</a:t>
            </a: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Use min() to stop each slab at its upper limit.</a:t>
            </a: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Do not save salary data because the program only needs one calculation.</a:t>
            </a: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 Show the standard deduction and taxable income so the result is easier to follow.</a:t>
            </a:r>
          </a:p>
        </p:txBody>
      </p:sp>
    </p:spTree>
    <p:extLst>
      <p:ext uri="{BB962C8B-B14F-4D97-AF65-F5344CB8AC3E}">
        <p14:creationId xmlns:p14="http://schemas.microsoft.com/office/powerpoint/2010/main" val="790784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354C5-8552-8E8A-DA26-BEFCA971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4BC1D5-A510-5C62-EF43-0CE462B8F38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Introduction to </a:t>
            </a:r>
            <a:r>
              <a:rPr lang="en-US" sz="2850" b="1" dirty="0" err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Tkinter</a:t>
            </a:r>
            <a:endParaRPr lang="en-US" sz="2850" b="1" dirty="0">
              <a:solidFill>
                <a:srgbClr val="16324F"/>
              </a:solidFill>
              <a:latin typeface="Arial"/>
              <a:ea typeface="Arial"/>
              <a:cs typeface="Arial"/>
            </a:endParaRPr>
          </a:p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endParaRPr sz="2850" b="1" dirty="0">
              <a:solidFill>
                <a:srgbClr val="16324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07A122-FF9B-83A5-A103-69735F307166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F5DEAD-0DBD-EFB2-E199-4850DD94F5FB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F0164-0D54-E9B3-45DE-537E4E702043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1038225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C14B0B-1F0A-828E-C63D-88F7961A6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188415"/>
              </p:ext>
            </p:extLst>
          </p:nvPr>
        </p:nvGraphicFramePr>
        <p:xfrm>
          <a:off x="560439" y="3762375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0438596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13478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735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Creates the main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475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headings and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90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Accepts annual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259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Performs calculation and exit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23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messagebox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input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95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StringVar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Updates calculation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1886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B9CD67-C56B-8837-4352-AB583CAAA3C5}"/>
              </a:ext>
            </a:extLst>
          </p:cNvPr>
          <p:cNvSpPr txBox="1"/>
          <p:nvPr/>
        </p:nvSpPr>
        <p:spPr>
          <a:xfrm>
            <a:off x="560439" y="123825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Tkinter</a:t>
            </a:r>
            <a:r>
              <a:rPr lang="en-IN" dirty="0"/>
              <a:t> is Python's standard library for creating graphical user interfaces (GUIs).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allows users to interact with the program through windows, buttons, labels, and input fields.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uses </a:t>
            </a:r>
            <a:r>
              <a:rPr lang="en-IN" dirty="0" err="1"/>
              <a:t>Tkinter</a:t>
            </a:r>
            <a:r>
              <a:rPr lang="en-IN" dirty="0"/>
              <a:t> to make income tax calculation easier and more user-friendly.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Users can calculate tax without entering commands in the terminal.</a:t>
            </a:r>
          </a:p>
          <a:p>
            <a:pPr>
              <a:buNone/>
            </a:pPr>
            <a:r>
              <a:rPr lang="en-IN" dirty="0"/>
              <a:t>GUI Components Used</a:t>
            </a:r>
          </a:p>
        </p:txBody>
      </p:sp>
    </p:spTree>
    <p:extLst>
      <p:ext uri="{BB962C8B-B14F-4D97-AF65-F5344CB8AC3E}">
        <p14:creationId xmlns:p14="http://schemas.microsoft.com/office/powerpoint/2010/main" val="131234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48F9A0-44B4-4EC5-83B2-207174713DC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Implementation Details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BB3853-2056-48EF-9073-DCD1719AC57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3C1E1-00D2-46E5-AC9F-C7310BECD0F8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59DC6-7EAB-48FD-A16A-ED609B73E694}"/>
              </a:ext>
            </a:extLst>
          </p:cNvPr>
          <p:cNvSpPr>
            <a:spLocks noGrp="1"/>
          </p:cNvSpPr>
          <p:nvPr/>
        </p:nvSpPr>
        <p:spPr>
          <a:xfrm>
            <a:off x="1000125" y="1571625"/>
            <a:ext cx="4619625" cy="3714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Python ideas used</a:t>
            </a:r>
          </a:p>
          <a:p>
            <a:endParaRPr sz="1725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input() and float()</a:t>
            </a: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Variables</a:t>
            </a: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if statements</a:t>
            </a: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Arithmetic</a:t>
            </a: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min()</a:t>
            </a: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Formatted output</a:t>
            </a:r>
            <a:endParaRPr lang="en-US" sz="1725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lang="en-IN" sz="1725" b="0" dirty="0" err="1">
                <a:solidFill>
                  <a:srgbClr val="243444"/>
                </a:solidFill>
                <a:latin typeface="Arial"/>
                <a:ea typeface="Arial"/>
                <a:cs typeface="Arial"/>
              </a:rPr>
              <a:t>Tkinter</a:t>
            </a:r>
            <a:endParaRPr lang="en-IN" sz="1725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endParaRPr sz="1725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880CF-44D9-4770-98BB-6CD23D7054DB}"/>
              </a:ext>
            </a:extLst>
          </p:cNvPr>
          <p:cNvSpPr>
            <a:spLocks noGrp="1"/>
          </p:cNvSpPr>
          <p:nvPr/>
        </p:nvSpPr>
        <p:spPr>
          <a:xfrm>
            <a:off x="6334125" y="1571625"/>
            <a:ext cx="4762500" cy="3714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Run the program</a:t>
            </a:r>
          </a:p>
          <a:p>
            <a:endParaRPr sz="1725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1. Open the folder in VS Code.</a:t>
            </a: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2. Open Terminal → New Terminal.</a:t>
            </a: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3. Type: python code.py</a:t>
            </a:r>
          </a:p>
          <a:p>
            <a:pPr algn="l">
              <a:defRPr sz="17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4. Enter salary in rupees.</a:t>
            </a:r>
          </a:p>
        </p:txBody>
      </p:sp>
    </p:spTree>
    <p:extLst>
      <p:ext uri="{BB962C8B-B14F-4D97-AF65-F5344CB8AC3E}">
        <p14:creationId xmlns:p14="http://schemas.microsoft.com/office/powerpoint/2010/main" val="2027533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BCA234-4E1B-4D0A-A5A6-FDA599ACD6F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lang="en-IN" sz="28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Screenshots and </a:t>
            </a:r>
            <a:r>
              <a:rPr sz="28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Sample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7F12A6-C136-4431-B2C0-D990A249E26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B9B3B1-4039-4D11-BE2D-B0221E8380FD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5BB8B6-1436-4418-B17B-7B8F15CF760D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875" b="1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3444"/>
                </a:solidFill>
                <a:latin typeface="Arial"/>
                <a:ea typeface="Arial"/>
                <a:cs typeface="Arial"/>
              </a:rPr>
              <a:t>Example: gross salary ₹13,00,000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2F01C7-C0CB-4B72-8E72-296BE9FAE0CE}"/>
              </a:ext>
            </a:extLst>
          </p:cNvPr>
          <p:cNvSpPr>
            <a:spLocks noGrp="1"/>
          </p:cNvSpPr>
          <p:nvPr/>
        </p:nvSpPr>
        <p:spPr>
          <a:xfrm>
            <a:off x="1095375" y="1792390"/>
            <a:ext cx="9525000" cy="1758745"/>
          </a:xfrm>
          <a:prstGeom prst="roundRect">
            <a:avLst>
              <a:gd name="adj" fmla="val 2667"/>
            </a:avLst>
          </a:prstGeom>
          <a:solidFill>
            <a:srgbClr val="F4F7F9"/>
          </a:solidFill>
          <a:ln w="19050">
            <a:solidFill>
              <a:srgbClr val="9FB3C1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Gross salary                         ₹13,00,000</a:t>
            </a: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Standard deduction              ₹75,000</a:t>
            </a: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Taxable income                    ₹12,25,000</a:t>
            </a: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Tax after marginal relief        ₹25,000</a:t>
            </a: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Cess (4%)                             ₹1,000</a:t>
            </a: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Estimated total tax               ₹26,000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157BE6-4689-41D8-B9D6-9D3F32B73140}"/>
              </a:ext>
            </a:extLst>
          </p:cNvPr>
          <p:cNvSpPr>
            <a:spLocks noGrp="1"/>
          </p:cNvSpPr>
          <p:nvPr/>
        </p:nvSpPr>
        <p:spPr>
          <a:xfrm>
            <a:off x="1095375" y="5353050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96B7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7DFEF5-4568-12E1-2575-1CB1970E1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3562350"/>
            <a:ext cx="6492803" cy="312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00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6052B7-C1DE-460D-804E-E72C7155258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Testing Approach and Challenges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DD03EA-2095-474B-A477-F0B6B5BA1D2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22175-16FC-47E6-A6B7-9E009F73721B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5BE7B5-E87E-455B-9E7A-3C3D70382492}"/>
              </a:ext>
            </a:extLst>
          </p:cNvPr>
          <p:cNvSpPr>
            <a:spLocks noGrp="1"/>
          </p:cNvSpPr>
          <p:nvPr/>
        </p:nvSpPr>
        <p:spPr>
          <a:xfrm>
            <a:off x="904875" y="1352550"/>
            <a:ext cx="10191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444"/>
                </a:solidFill>
                <a:latin typeface="Arial"/>
                <a:ea typeface="Arial"/>
                <a:cs typeface="Arial"/>
              </a:rPr>
              <a:t>Suggested checks (run them in VS Code)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0CA67-45A3-4421-9F20-533EB30445EB}"/>
              </a:ext>
            </a:extLst>
          </p:cNvPr>
          <p:cNvSpPr>
            <a:spLocks noGrp="1"/>
          </p:cNvSpPr>
          <p:nvPr/>
        </p:nvSpPr>
        <p:spPr>
          <a:xfrm>
            <a:off x="1000125" y="1905000"/>
            <a:ext cx="619125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₹12,75,000 salary  →  expected tax ₹0</a:t>
            </a: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₹13,00,000 salary  →  expected tax ₹26,000</a:t>
            </a: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₹15,00,000 salary  →  expected tax ₹97,500</a:t>
            </a:r>
          </a:p>
          <a:p>
            <a:pPr algn="l">
              <a:defRPr sz="157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Text input or negative value  →  show an error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40678E-3F78-4AA6-BE02-74F635633603}"/>
              </a:ext>
            </a:extLst>
          </p:cNvPr>
          <p:cNvSpPr>
            <a:spLocks noGrp="1"/>
          </p:cNvSpPr>
          <p:nvPr/>
        </p:nvSpPr>
        <p:spPr>
          <a:xfrm>
            <a:off x="7620000" y="1905000"/>
            <a:ext cx="371475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Main challenges</a:t>
            </a:r>
          </a:p>
          <a:p>
            <a:endParaRPr sz="1500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Applying each slab to the correct part of income.</a:t>
            </a:r>
          </a:p>
          <a:p>
            <a:pPr algn="l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Subtracting the deduction before tax.</a:t>
            </a:r>
          </a:p>
          <a:p>
            <a:pPr algn="l">
              <a:defRPr sz="150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Understanding rebate and marginal relief.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B0BF82-28F1-4CBC-B59E-D07F5220FC9B}"/>
              </a:ext>
            </a:extLst>
          </p:cNvPr>
          <p:cNvSpPr>
            <a:spLocks noGrp="1"/>
          </p:cNvSpPr>
          <p:nvPr/>
        </p:nvSpPr>
        <p:spPr>
          <a:xfrm>
            <a:off x="1095375" y="542925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596B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4497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A243F58-61D6-4331-85AA-856F47FEC81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Learnings and Future Enhancements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0A479-AE46-4466-B028-75E92432AF5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63C4AB-C1CD-435D-8A56-DC55A82F3DC4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5A30AE-343B-4069-BC67-AB108E7231E0}"/>
              </a:ext>
            </a:extLst>
          </p:cNvPr>
          <p:cNvSpPr>
            <a:spLocks noGrp="1"/>
          </p:cNvSpPr>
          <p:nvPr/>
        </p:nvSpPr>
        <p:spPr>
          <a:xfrm>
            <a:off x="1000125" y="157162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8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What I learned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A2A9C-1CB7-4253-9B74-BF6911A4239F}"/>
              </a:ext>
            </a:extLst>
          </p:cNvPr>
          <p:cNvSpPr>
            <a:spLocks noGrp="1"/>
          </p:cNvSpPr>
          <p:nvPr/>
        </p:nvSpPr>
        <p:spPr>
          <a:xfrm>
            <a:off x="1000125" y="2143125"/>
            <a:ext cx="44767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Read user input</a:t>
            </a: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Use variables and calculations</a:t>
            </a: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Apply if statements</a:t>
            </a: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Print clear results</a:t>
            </a:r>
            <a:endParaRPr lang="en-US"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5B0497-98DC-4C84-BB29-4631F2A8A781}"/>
              </a:ext>
            </a:extLst>
          </p:cNvPr>
          <p:cNvSpPr>
            <a:spLocks noGrp="1"/>
          </p:cNvSpPr>
          <p:nvPr/>
        </p:nvSpPr>
        <p:spPr>
          <a:xfrm>
            <a:off x="6191250" y="157162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8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Possible future changes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904CC-DF25-478D-B12E-C2302D08C393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495300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Add more types of income</a:t>
            </a: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Add automatic tests</a:t>
            </a:r>
          </a:p>
          <a:p>
            <a:endParaRPr sz="1650" b="0" dirty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444"/>
                </a:solidFill>
                <a:latin typeface="Arial"/>
                <a:ea typeface="Arial"/>
                <a:cs typeface="Arial"/>
              </a:rPr>
              <a:t>• Update tax rules for a later year</a:t>
            </a:r>
          </a:p>
        </p:txBody>
      </p:sp>
    </p:spTree>
    <p:extLst>
      <p:ext uri="{BB962C8B-B14F-4D97-AF65-F5344CB8AC3E}">
        <p14:creationId xmlns:p14="http://schemas.microsoft.com/office/powerpoint/2010/main" val="1708380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B615FA-9820-4991-8CFA-6F3B0E262AB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CBC360-F970-4C50-9F51-6E5631BCC35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28575"/>
          </a:xfrm>
          <a:prstGeom prst="rect">
            <a:avLst/>
          </a:prstGeom>
          <a:solidFill>
            <a:srgbClr val="087E8B"/>
          </a:solidFill>
          <a:ln w="0">
            <a:solidFill>
              <a:srgbClr val="087E8B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77C5C-12CF-4568-8683-ADDD2EA220B2}"/>
              </a:ext>
            </a:extLst>
          </p:cNvPr>
          <p:cNvSpPr>
            <a:spLocks noGrp="1"/>
          </p:cNvSpPr>
          <p:nvPr/>
        </p:nvSpPr>
        <p:spPr>
          <a:xfrm>
            <a:off x="9858375" y="64198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CSE102  •  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BEC069-E170-4EC7-BC9D-D06C377AE158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800" b="1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444"/>
                </a:solidFill>
                <a:latin typeface="Arial"/>
                <a:ea typeface="Arial"/>
                <a:cs typeface="Arial"/>
              </a:rPr>
              <a:t>Official sources used for the tax rules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198EDB-2F24-4E34-A184-0A320C53566B}"/>
              </a:ext>
            </a:extLst>
          </p:cNvPr>
          <p:cNvSpPr>
            <a:spLocks noGrp="1"/>
          </p:cNvSpPr>
          <p:nvPr/>
        </p:nvSpPr>
        <p:spPr>
          <a:xfrm>
            <a:off x="1000125" y="2143125"/>
            <a:ext cx="102870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1. Income Tax Department, Government of India</a:t>
            </a:r>
          </a:p>
          <a:p>
            <a:pPr algn="l">
              <a:defRPr sz="14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   Budget 2025 FAQs: slabs, rebate, marginal relief, and examples</a:t>
            </a:r>
          </a:p>
          <a:p>
            <a:pPr algn="l">
              <a:defRPr sz="14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   incometaxindia.gov.in/Documents/Budget/budget-2025/faqs-budget-2025.pdf</a:t>
            </a:r>
          </a:p>
          <a:p>
            <a:endParaRPr sz="1425" b="0">
              <a:solidFill>
                <a:srgbClr val="243444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2. Income Tax Department</a:t>
            </a:r>
          </a:p>
          <a:p>
            <a:pPr algn="l">
              <a:defRPr sz="14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   Salaried Individuals for AY 2026-27</a:t>
            </a:r>
          </a:p>
          <a:p>
            <a:pPr algn="l">
              <a:defRPr sz="1425" b="0">
                <a:solidFill>
                  <a:srgbClr val="24344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444"/>
                </a:solidFill>
                <a:latin typeface="Arial"/>
                <a:ea typeface="Arial"/>
                <a:cs typeface="Arial"/>
              </a:rPr>
              <a:t>   incometax.gov.in/iec/foportal/help/individual/return-applicable-1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9E5CEC-E933-4030-AB0C-2C54E33AF119}"/>
              </a:ext>
            </a:extLst>
          </p:cNvPr>
          <p:cNvSpPr>
            <a:spLocks noGrp="1"/>
          </p:cNvSpPr>
          <p:nvPr/>
        </p:nvSpPr>
        <p:spPr>
          <a:xfrm>
            <a:off x="1000125" y="5572125"/>
            <a:ext cx="1019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Tax rules can change. This project is an educational estimate only.</a:t>
            </a:r>
          </a:p>
        </p:txBody>
      </p:sp>
    </p:spTree>
    <p:extLst>
      <p:ext uri="{BB962C8B-B14F-4D97-AF65-F5344CB8AC3E}">
        <p14:creationId xmlns:p14="http://schemas.microsoft.com/office/powerpoint/2010/main" val="9190857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1144</Words>
  <Application>Microsoft Office PowerPoint</Application>
  <DocSecurity>0</DocSecurity>
  <PresentationFormat>Widescreen</PresentationFormat>
  <Paragraphs>211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vinayaksharma032007@gmail.com</cp:lastModifiedBy>
  <cp:revision>3</cp:revision>
  <dcterms:created xsi:type="dcterms:W3CDTF">2026-09-24T17:21:29Z</dcterms:created>
  <dcterms:modified xsi:type="dcterms:W3CDTF">2026-09-29T16:42:31Z</dcterms:modified>
</cp:coreProperties>
</file>